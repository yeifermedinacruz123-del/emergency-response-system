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01A2E"/>
                </a:solidFill>
                <a:latin typeface="Cambria"/>
              </a:defRPr>
            </a:pPr>
            <a:r>
              <a:rPr sz="1500" b="0" i="0" u="none" strike="noStrike">
                <a:solidFill>
                  <a:srgbClr val="101A2E"/>
                </a:solidFill>
                <a:latin typeface="Cambria"/>
              </a:rPr>
              <a:t>Emergencias por estado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Emergencias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Resueltas</c:v>
                </c:pt>
                <c:pt idx="1">
                  <c:v>En proceso</c:v>
                </c:pt>
                <c:pt idx="2">
                  <c:v>Pendientes</c:v>
                </c:pt>
                <c:pt idx="3">
                  <c:v>Canceladas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14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Comprobaciones</c:v>
                </c:pt>
              </c:strCache>
            </c:strRef>
          </c:tx>
          <c:spPr>
            <a:solidFill>
              <a:srgbClr val="1D2F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1A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API REST</c:v>
                  </c:pt>
                  <c:pt idx="1">
                    <c:v>Tiempo real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92</c:v>
                </c:pt>
                <c:pt idx="1">
                  <c:v>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01A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7DEE8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Completadas</c:v>
                </c:pt>
                <c:pt idx="1">
                  <c:v>Pendientes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13</c:v>
                </c:pt>
                <c:pt idx="1">
                  <c:v>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avance del proyecto de aula. Se han completado 13 de las 18 fases planificadas. El sistema está construido y verificado en ejecución.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sistema no sustituye la línea 123: la complementa con un canal digital que aporta precisión, trazabilidad y visibilidad.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frameworks en el cliente, sin servicios de mapas de pago y sin dependencias comerciales para las notificaciones.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de los seis objetivos están cumplidos y verificados. El sexto, la verificación, está cubierto para la API y el tiempo real; falta la fase de pruebas integrales.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Decisión arquitectónica central: un solo origen en localhost:4000 habilita geolocalización y PWA sin montar HTTPS en desarrollo.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restricción del curso de no usar frameworks en el cliente obligó a resolver a mano la gestión de estado y la actualización de la interfaz.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Desnormalización controlada: las marcas de tiempo se guardan en la emergencia además de en la bitácora, para evitar una agregación en cada consulta del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transición queda registrada en la bitácora con su autor y su hora. La bitácora no admite modificación ni borrado, para que sirva como evidencia.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fotografías se reducen en el navegador antes de subirlas: de 205 KB a 25 KB en la prueba, sin perder detalle útil para el operador.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eventos se emiten siempre después de confirmar la transacción. Emitirlos dentro dejaría a los operadores viendo una emergencia que se revierte.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datos de demostración se construyeron sobre la geografía real del municipio: las 10 zonas corresponden a las 8 comunas y 2 áreas rurales.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criterio de cierre de cada fase es que la funcionalidad se ejecute correctamente, no que los archivos existan.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API de estadísticas ya devuelve los datos en el formato que espera Chart.js: la fase 14 se limita a construir la interfaz.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sistema está en condiciones de completar las cinco fases restantes dentro del cronograma del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en vivo disponible: npm run db:up &amp;&amp; npm run dev, y abrir localhost:4000.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1051560"/>
            <a:ext cx="2286000" cy="2286000"/>
          </a:xfrm>
          <a:prstGeom prst="ellipse">
            <a:avLst/>
          </a:prstGeom>
          <a:solidFill>
            <a:srgbClr val="DC2626">
              <a:alpha val="18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1600200"/>
            <a:ext cx="1188720" cy="11887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0" y="1600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515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AULA  ·  2026-2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System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3375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6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y móvil para la gestión y atención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6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emergencias en tiempo real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70916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Yeifer Herley Medina Cruz  ·  ID 923671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Camilo Lombana Gutiérrez  ·  ID 909524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Sistemas  ·  Universidad Cooperativa de Colombia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 Web y Sistemas Móviles  ·  Villavicencio, Meta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 DEL PROBLEMA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fallas del reporte telefónico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4884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8163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pierde la ubicación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401568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operador depende de que quien llama sepa describir dónde está. En vías sin nomenclatura o en zona rural, el tiempo se va en localizar el incidente en lugar de atenderlo.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1828800"/>
            <a:ext cx="342900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1488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8163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ciudadano queda a ciegas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401568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colgar no sabe si su reporte se registró ni si va alguien en camino. Vuelve a llamar por el mismo caso y satura la línea.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10144" y="1828800"/>
            <a:ext cx="342900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02752" y="214884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02752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02752" y="28163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Despacho sin visibilidad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3401568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operador asigna unidades sin saber dónde está cada una. La que envía no siempre es la más cercana ni la más adecuada.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D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se resuelven con capacidades que ya tiene cualquier teléfono: GPS, cámara y conexión permanente.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System  ·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Desarrollar una plataforma web y móvil que permita a los ciudadanos reportar emergencias con su ubicación precisa, y a un centro de control gestionarlas y hacer seguimiento en tiempo real.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Empleando exclusivamente tecnologías web estándar y de código abierto.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objetivos específicos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67128"/>
            <a:ext cx="457200" cy="457200"/>
          </a:xfrm>
          <a:prstGeom prst="ellipse">
            <a:avLst/>
          </a:prstGeom>
          <a:solidFill>
            <a:srgbClr val="1D2F52"/>
          </a:solidFill>
          <a:ln w="12700">
            <a:solidFill>
              <a:srgbClr val="1D2F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84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datos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3591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Relacional, normalizado, con trazabilidad completa de cada incidente.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257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167128"/>
            <a:ext cx="457200" cy="457200"/>
          </a:xfrm>
          <a:prstGeom prst="ellipse">
            <a:avLst/>
          </a:prstGeom>
          <a:solidFill>
            <a:srgbClr val="1D2F52"/>
          </a:solidFill>
          <a:ln w="12700">
            <a:solidFill>
              <a:srgbClr val="1D2F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984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3591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por tokens y control de acceso para cuatro roles.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5257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584448"/>
            <a:ext cx="457200" cy="457200"/>
          </a:xfrm>
          <a:prstGeom prst="ellipse">
            <a:avLst/>
          </a:prstGeom>
          <a:solidFill>
            <a:srgbClr val="1D2F52"/>
          </a:solidFill>
          <a:ln w="12700">
            <a:solidFill>
              <a:srgbClr val="1D2F5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4015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Tiempo real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7764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se actualiza sin recargar la página.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200400"/>
            <a:ext cx="5257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3584448"/>
            <a:ext cx="457200" cy="457200"/>
          </a:xfrm>
          <a:prstGeom prst="ellipse">
            <a:avLst/>
          </a:prstGeom>
          <a:solidFill>
            <a:srgbClr val="1D2F52"/>
          </a:solidFill>
          <a:ln w="12700">
            <a:solidFill>
              <a:srgbClr val="1D2F5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4015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 web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37764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Indicadores, listados con filtros y mapa de incidentes.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5257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5001768"/>
            <a:ext cx="457200" cy="457200"/>
          </a:xfrm>
          <a:prstGeom prst="ellipse">
            <a:avLst/>
          </a:prstGeom>
          <a:solidFill>
            <a:srgbClr val="1D2F52"/>
          </a:solidFill>
          <a:ln w="12700">
            <a:solidFill>
              <a:srgbClr val="1D2F5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5001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48188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móvil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1937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instalable con botón SOS, GPS y fotografías.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4617720"/>
            <a:ext cx="5257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6520" y="5001768"/>
            <a:ext cx="457200" cy="457200"/>
          </a:xfrm>
          <a:prstGeom prst="ellipse">
            <a:avLst/>
          </a:prstGeom>
          <a:solidFill>
            <a:srgbClr val="1D2F52"/>
          </a:solidFill>
          <a:ln w="12700">
            <a:solidFill>
              <a:srgbClr val="1D2F5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46520" y="5001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086600" y="48188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Verificación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086600" y="51937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automatizadas contra el sistema en ejecución.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System  ·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capas, un solo origen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8138160" cy="1143000"/>
          </a:xfrm>
          <a:prstGeom prst="roundRect">
            <a:avLst>
              <a:gd name="adj" fmla="val 6400"/>
            </a:avLst>
          </a:prstGeom>
          <a:solidFill>
            <a:srgbClr val="1D2F52"/>
          </a:solidFill>
          <a:ln w="12700">
            <a:solidFill>
              <a:srgbClr val="1D2F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293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9514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web del centro de control  ·  Aplicación móvil del ciudadano (PWA)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5877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+ JavaScript ES6+, sin frameworks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127248"/>
            <a:ext cx="8138160" cy="1143000"/>
          </a:xfrm>
          <a:prstGeom prst="roundRect">
            <a:avLst>
              <a:gd name="adj" fmla="val 6400"/>
            </a:avLst>
          </a:prstGeom>
          <a:solidFill>
            <a:srgbClr val="101A2E"/>
          </a:solidFill>
          <a:ln w="12700">
            <a:solidFill>
              <a:srgbClr val="101A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2735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63931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 ·  rutas → controladores → servicios → modelos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931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comparte el mismo puerto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471416"/>
            <a:ext cx="8138160" cy="1143000"/>
          </a:xfrm>
          <a:prstGeom prst="roundRect">
            <a:avLst>
              <a:gd name="adj" fmla="val 64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9834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 ·  SQL parametrizado, sin ORM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2760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tablas · 4 vistas · 2 disparadores · 59 índices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1783080"/>
            <a:ext cx="2468880" cy="3831336"/>
          </a:xfrm>
          <a:prstGeom prst="roundRect">
            <a:avLst>
              <a:gd name="adj" fmla="val 3333"/>
            </a:avLst>
          </a:prstGeom>
          <a:solidFill>
            <a:srgbClr val="EEF1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8116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un solo origen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2606040"/>
            <a:ext cx="2011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sirve también los archivos del cliente.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navegadores exigen esa condición para habilitar el GPS y el service worker sin certificados HTTPS en desarrollo.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System  ·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con software libre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29968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299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51760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semántico y CSS3 con variables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ES6+ con módulos nativos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+ OpenStreetMap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+ Web App Manifest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25780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29968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4808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0299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Servidor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651760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24 y Express 4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con el driver pg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4 para el tiempo real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bcrypt, Helmet y rate limiting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EEF1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60120" y="498348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 de licencias, sin cobro por consulta de mapas y sin cuentas en servicios de terceros. La cartografía es de OpenStreetMap y las notificaciones usan Web Push con claves generadas por el propio proyecto.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System  ·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Diecisiete tablas en tercera forma normal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334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26334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26334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45820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26334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46120"/>
            <a:ext cx="52578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60120" y="34747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Integridad garantizada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9319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foráneas con políticas de borrado explícitas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usuario con emergencias no se puede borrar: protege el historial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bitácora es de solo inserción, nunca se modifica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3246120"/>
            <a:ext cx="5257800" cy="2377440"/>
          </a:xfrm>
          <a:prstGeom prst="roundRect">
            <a:avLst>
              <a:gd name="adj" fmla="val 3462"/>
            </a:avLst>
          </a:prstGeom>
          <a:solidFill>
            <a:srgbClr val="EEF1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92240" y="34747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 consecutivo sin colisiones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9319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disparador genera el código ERS-2026-000042 con una tabla contadora e inserción condicional, en lugar de calcular el máximo existente.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dos emergencias registradas en el mismo instante no pueden recibir el mismo código.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System  ·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estado no cambia de cualquier forma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788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1945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PENDIENTE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3347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aquí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456432" y="23774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886200" y="1965960"/>
            <a:ext cx="2788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86200" y="21945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PROCESO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886200" y="263347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en sitio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02552" y="23774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132320" y="1965960"/>
            <a:ext cx="2788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0" y="21945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RESUELTO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263347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final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378440" y="1965960"/>
            <a:ext cx="1143000" cy="1371600"/>
          </a:xfrm>
          <a:prstGeom prst="roundRect">
            <a:avLst>
              <a:gd name="adj" fmla="val 6400"/>
            </a:avLst>
          </a:prstGeom>
          <a:solidFill>
            <a:srgbClr val="EEF1F7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378440" y="228600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LADO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60120" y="38862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Transiciones validadas en el servidor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4315968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de PENDIENTE a RESUELTO se rechaza con un mensaje que indica qué transiciones sí valen desde el estado actual. Cancelar exige motivo.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365760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EEF1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92240" y="38862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cerrar, se liberan las unidades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315968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completa las asignaciones abiertas y libera al personal, pero solo si esa unidad no tiene otro incidente pendiente.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System  ·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segundos de pulsación, no un toque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51560" y="2057400"/>
            <a:ext cx="3108960" cy="3108960"/>
          </a:xfrm>
          <a:prstGeom prst="ellipse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2423160"/>
            <a:ext cx="2377440" cy="2377440"/>
          </a:xfrm>
          <a:prstGeom prst="ellipse">
            <a:avLst/>
          </a:prstGeom>
          <a:solidFill>
            <a:srgbClr val="DC2626"/>
          </a:solidFill>
          <a:ln w="25400">
            <a:solidFill>
              <a:srgbClr val="B91C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17320" y="26517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3703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pulsado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920240"/>
            <a:ext cx="420624" cy="42062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8745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sostenido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2258568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botón grande que dispara al primer contacto se activaría solo dentro del bolsillo. Mantener pulsado exige intención, y soltar antes cancela.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46320" y="3218688"/>
            <a:ext cx="420624" cy="42062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3218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31729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Ubicación antes de enviar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40680" y="3557016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pide el GPS primero. Un SOS sin coordenadas obliga al operador a llamar para preguntar dónde es: justo lo que el sistema quiere evitar.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46320" y="4517136"/>
            <a:ext cx="420624" cy="42062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4517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447141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el GPS falla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40680" y="4855464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pregunta al ciudadano si enviar igualmente y se le lleva al formulario para escribir la dirección. Un aviso sin coordenadas es mejor que ningún aviso.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7150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D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SOS entra con prioridad CRÍTICA automática y llega al centro de control en el mismo instante.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System  ·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EN TIEMPO REAL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panel se actualiza solo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388620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1168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Salas por rol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50592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entra únicamente en las salas que su rol permite. Eso impide que un ciudadano escuche las emergencias de toda la ciudad.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291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2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control-room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32918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y administrador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8587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2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responders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38587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 emergencia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4256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2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user:id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442569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usuario, sus avisos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49926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2F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emergency:id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499262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abre ese detalle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1783080"/>
            <a:ext cx="5257800" cy="3886200"/>
          </a:xfrm>
          <a:prstGeom prst="roundRect">
            <a:avLst>
              <a:gd name="adj" fmla="val 2118"/>
            </a:avLst>
          </a:prstGeom>
          <a:solidFill>
            <a:srgbClr val="101A2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92240" y="20116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Comprobado con cuatro clientes a la vez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7432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creó un SOS desde fuera y se midió qué recibió cada rol: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200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Operador: aviso, contadores 4→5, SOS 2→3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Ciudadano autor: seguimiento de su reporte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Bombero asignado: su emergencia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Ciudadano ajeno: nada en absoluto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8920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aislamiento entre roles quedó demostrado, no supuesto.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System  ·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reales de Villavicencio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5029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1920240"/>
            <a:ext cx="2423160" cy="1170432"/>
          </a:xfrm>
          <a:prstGeom prst="roundRect">
            <a:avLst>
              <a:gd name="adj" fmla="val 7031"/>
            </a:avLst>
          </a:prstGeom>
          <a:solidFill>
            <a:srgbClr val="EEF1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263640" y="204825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26060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emergencias en 30 días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915400" y="1920240"/>
            <a:ext cx="2423160" cy="1170432"/>
          </a:xfrm>
          <a:prstGeom prst="roundRect">
            <a:avLst>
              <a:gd name="adj" fmla="val 7031"/>
            </a:avLst>
          </a:prstGeom>
          <a:solidFill>
            <a:srgbClr val="EEF1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915400" y="204825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9052560" y="26060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en 4 roles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63640" y="3291840"/>
            <a:ext cx="2423160" cy="1170432"/>
          </a:xfrm>
          <a:prstGeom prst="roundRect">
            <a:avLst>
              <a:gd name="adj" fmla="val 7031"/>
            </a:avLst>
          </a:prstGeom>
          <a:solidFill>
            <a:srgbClr val="EEF1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263640" y="341985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39776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de personal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915400" y="3291840"/>
            <a:ext cx="2423160" cy="1170432"/>
          </a:xfrm>
          <a:prstGeom prst="roundRect">
            <a:avLst>
              <a:gd name="adj" fmla="val 7031"/>
            </a:avLst>
          </a:prstGeom>
          <a:solidFill>
            <a:srgbClr val="EEF1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915400" y="341985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9052560" y="39776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del municipio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63640" y="4663440"/>
            <a:ext cx="51663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537960" y="482803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de las 25 son activaciones del botón SOS. El tiempo promedio hasta la asignación de personal es de 8 minutos.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System  ·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141 comprobaciones, 141 correctas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54864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800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Ejecutadas contra el sistema en funcionamiento, no contra piezas aisladas.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92240" y="1828800"/>
            <a:ext cx="493776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12280" y="20574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defectos que solo aparecieron al ejecutar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2834640"/>
            <a:ext cx="4251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tokens idénticos si la sesión se renovaba en el mismo segundo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no se apagaba con sockets abiertos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de base de datos llegaba en blanco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atributo hidden no ocultaba nada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812280" y="47091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D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era visible leyendo el código. Verificar cada fase en ejecución es lo que los sacó a la luz.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System  ·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PROYECTO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0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Trece de dieciocho fases completadas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42062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212080" y="1783080"/>
            <a:ext cx="3017520" cy="38404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48640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Completado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504688" y="2377440"/>
            <a:ext cx="25146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Análisis, arquitectura y estructura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y datos de demostración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REST, autenticación y roles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emergencias completo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 con Socket.IO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web del centro de control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con Leaflet y OpenStreetMap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PWA: SOS, GPS y fotos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push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412480" y="1783080"/>
            <a:ext cx="3017520" cy="3840480"/>
          </a:xfrm>
          <a:prstGeom prst="roundRect">
            <a:avLst>
              <a:gd name="adj" fmla="val 2727"/>
            </a:avLst>
          </a:prstGeom>
          <a:solidFill>
            <a:srgbClr val="EEF1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94A3B8">
                <a:alpha val="2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68680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Pendiente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705088" y="2377440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estadísticos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seguridad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integrales y corrección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final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System  ·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deja este avance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21031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viable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256032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de emergencias funcionalmente completo se puede construir solo con tecnologías web estándar y libres.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2103120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722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793992" y="21031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GPS resuelve la ambigüedad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793992" y="256032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captura automática elimina el principal punto de fallo del reporte telefónico y habilita el análisis por zonas.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40690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framework se aprende más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45262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Obligó a resolver de forma explícita el estado, la interfaz y la comunicación que un framework esconde.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4069080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93992" y="40690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 en ejecución importa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793992" y="45262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defectos encontrados compartían algo: ninguno era visible en el código.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57800" y="1600200"/>
            <a:ext cx="1645920" cy="1645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257800" y="16002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3891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System  ·  Preguntas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Yeifer Herley Medina Cruz  ·  ID 923671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Camilo Lombana Gutiérrez  ·  ID 909524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Sistemas  ·  Universidad Cooperativa de Colombia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Universidad Cooperativa de Colombia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Emergency Response System</dc:title>
  <dc:subject>PptxGenJS Presentation</dc:subject>
  <dc:creator>Yeifer Herley Medina Cruz; Juan Camilo Lombana Gutierrez</dc:creator>
  <cp:lastModifiedBy>Yeifer Herley Medina Cruz; Juan Camilo Lombana Gutierrez</cp:lastModifiedBy>
  <cp:revision>1</cp:revision>
  <dcterms:created xsi:type="dcterms:W3CDTF">2026-09-02T02:04:54Z</dcterms:created>
  <dcterms:modified xsi:type="dcterms:W3CDTF">2026-09-02T02:04:54Z</dcterms:modified>
</cp:coreProperties>
</file>